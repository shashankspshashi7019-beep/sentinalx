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8" d="100"/>
          <a:sy n="78" d="100"/>
        </p:scale>
        <p:origin x="1281" y="5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95240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95240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95240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95240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008941"/>
            <a:ext cx="9115425" cy="70732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04770" y="1201989"/>
            <a:ext cx="3048858" cy="47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95240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3918" y="1997431"/>
            <a:ext cx="8311515" cy="4023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27" y="2997601"/>
            <a:ext cx="10058400" cy="367580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28800" y="1419716"/>
            <a:ext cx="6400800" cy="57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600" b="0" spc="-425" dirty="0">
                <a:solidFill>
                  <a:srgbClr val="621803"/>
                </a:solidFill>
                <a:latin typeface="American Text" panose="02000503020000020004" pitchFamily="2" charset="0"/>
                <a:cs typeface="Palatino Linotype"/>
              </a:rPr>
              <a:t>B</a:t>
            </a:r>
            <a:r>
              <a:rPr lang="en-IN" sz="3600" b="0" spc="-425" dirty="0">
                <a:solidFill>
                  <a:srgbClr val="621803"/>
                </a:solidFill>
                <a:latin typeface="American Text" panose="02000503020000020004" pitchFamily="2" charset="0"/>
                <a:cs typeface="Palatino Linotype"/>
              </a:rPr>
              <a:t>RINDAVAN COLLEGE OF ENGINEERING</a:t>
            </a:r>
            <a:endParaRPr sz="3600" dirty="0">
              <a:latin typeface="American Text" panose="02000503020000020004" pitchFamily="2" charset="0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9291" y="2037033"/>
            <a:ext cx="5549900" cy="2943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3495" algn="ctr">
              <a:lnSpc>
                <a:spcPts val="1140"/>
              </a:lnSpc>
              <a:spcBef>
                <a:spcPts val="95"/>
              </a:spcBef>
            </a:pPr>
            <a:r>
              <a:rPr sz="1000" b="1" spc="-25" dirty="0">
                <a:solidFill>
                  <a:srgbClr val="001F60"/>
                </a:solidFill>
                <a:latin typeface="Cambria"/>
                <a:cs typeface="Cambria"/>
              </a:rPr>
              <a:t>Dwarakanagar,</a:t>
            </a:r>
            <a:r>
              <a:rPr sz="1000" b="1" spc="-15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b="1" spc="-10" dirty="0">
                <a:solidFill>
                  <a:srgbClr val="001F60"/>
                </a:solidFill>
                <a:latin typeface="Cambria"/>
                <a:cs typeface="Cambria"/>
              </a:rPr>
              <a:t>Bagalur</a:t>
            </a:r>
            <a:r>
              <a:rPr sz="1000" b="1" spc="-20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b="1" dirty="0">
                <a:solidFill>
                  <a:srgbClr val="001F60"/>
                </a:solidFill>
                <a:latin typeface="Cambria"/>
                <a:cs typeface="Cambria"/>
              </a:rPr>
              <a:t>Main</a:t>
            </a:r>
            <a:r>
              <a:rPr sz="1000" b="1" spc="-15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b="1" spc="-10" dirty="0">
                <a:solidFill>
                  <a:srgbClr val="001F60"/>
                </a:solidFill>
                <a:latin typeface="Cambria"/>
                <a:cs typeface="Cambria"/>
              </a:rPr>
              <a:t>Road,</a:t>
            </a:r>
            <a:r>
              <a:rPr sz="1000" b="1" spc="-20" dirty="0">
                <a:solidFill>
                  <a:srgbClr val="001F60"/>
                </a:solidFill>
                <a:latin typeface="Cambria"/>
                <a:cs typeface="Cambria"/>
              </a:rPr>
              <a:t> Yelahanka,</a:t>
            </a:r>
            <a:r>
              <a:rPr sz="1000" b="1" spc="-40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b="1" spc="-10" dirty="0">
                <a:solidFill>
                  <a:srgbClr val="001F60"/>
                </a:solidFill>
                <a:latin typeface="Cambria"/>
                <a:cs typeface="Cambria"/>
              </a:rPr>
              <a:t>Bengaluru</a:t>
            </a:r>
            <a:r>
              <a:rPr sz="1000" b="1" spc="-20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b="1" dirty="0">
                <a:solidFill>
                  <a:srgbClr val="001F60"/>
                </a:solidFill>
                <a:latin typeface="Cambria"/>
                <a:cs typeface="Cambria"/>
              </a:rPr>
              <a:t>–</a:t>
            </a:r>
            <a:r>
              <a:rPr sz="1000" b="1" spc="-10" dirty="0">
                <a:solidFill>
                  <a:srgbClr val="001F60"/>
                </a:solidFill>
                <a:latin typeface="Cambria"/>
                <a:cs typeface="Cambria"/>
              </a:rPr>
              <a:t> 560063</a:t>
            </a:r>
            <a:endParaRPr sz="1000" dirty="0">
              <a:latin typeface="Cambria"/>
              <a:cs typeface="Cambria"/>
            </a:endParaRPr>
          </a:p>
          <a:p>
            <a:pPr algn="ctr">
              <a:lnSpc>
                <a:spcPts val="1140"/>
              </a:lnSpc>
              <a:tabLst>
                <a:tab pos="3874135" algn="l"/>
              </a:tabLst>
            </a:pPr>
            <a:r>
              <a:rPr sz="1000" spc="-10" dirty="0">
                <a:solidFill>
                  <a:srgbClr val="001F60"/>
                </a:solidFill>
                <a:latin typeface="Cambria"/>
                <a:cs typeface="Cambria"/>
              </a:rPr>
              <a:t>Affiliated</a:t>
            </a:r>
            <a:r>
              <a:rPr sz="1000" spc="-40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001F60"/>
                </a:solidFill>
                <a:latin typeface="Cambria"/>
                <a:cs typeface="Cambria"/>
              </a:rPr>
              <a:t>to</a:t>
            </a:r>
            <a:r>
              <a:rPr sz="1000" spc="-15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001F60"/>
                </a:solidFill>
                <a:latin typeface="Cambria"/>
                <a:cs typeface="Cambria"/>
              </a:rPr>
              <a:t>VTU</a:t>
            </a:r>
            <a:r>
              <a:rPr sz="1000" spc="-20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spc="-10" dirty="0">
                <a:solidFill>
                  <a:srgbClr val="001F60"/>
                </a:solidFill>
                <a:latin typeface="Cambria"/>
                <a:cs typeface="Cambria"/>
              </a:rPr>
              <a:t>Belagavi,</a:t>
            </a:r>
            <a:r>
              <a:rPr sz="1000" spc="-35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spc="-10" dirty="0">
                <a:solidFill>
                  <a:srgbClr val="001F60"/>
                </a:solidFill>
                <a:latin typeface="Cambria"/>
                <a:cs typeface="Cambria"/>
              </a:rPr>
              <a:t>Approved</a:t>
            </a:r>
            <a:r>
              <a:rPr sz="1000" spc="-40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001F60"/>
                </a:solidFill>
                <a:latin typeface="Cambria"/>
                <a:cs typeface="Cambria"/>
              </a:rPr>
              <a:t>by</a:t>
            </a:r>
            <a:r>
              <a:rPr sz="1000" spc="-15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001F60"/>
                </a:solidFill>
                <a:latin typeface="Cambria"/>
                <a:cs typeface="Cambria"/>
              </a:rPr>
              <a:t>AICTE,</a:t>
            </a:r>
            <a:r>
              <a:rPr sz="1000" spc="-35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001F60"/>
                </a:solidFill>
                <a:latin typeface="Cambria"/>
                <a:cs typeface="Cambria"/>
              </a:rPr>
              <a:t>New</a:t>
            </a:r>
            <a:r>
              <a:rPr sz="1000" spc="-40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001F60"/>
                </a:solidFill>
                <a:latin typeface="Cambria"/>
                <a:cs typeface="Cambria"/>
              </a:rPr>
              <a:t>Delhi,</a:t>
            </a:r>
            <a:r>
              <a:rPr sz="1000" spc="-40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spc="-10" dirty="0">
                <a:solidFill>
                  <a:srgbClr val="001F60"/>
                </a:solidFill>
                <a:latin typeface="Cambria"/>
                <a:cs typeface="Cambria"/>
              </a:rPr>
              <a:t>India</a:t>
            </a:r>
            <a:r>
              <a:rPr lang="en-IN" sz="1000" spc="-10" dirty="0">
                <a:solidFill>
                  <a:srgbClr val="001F60"/>
                </a:solidFill>
                <a:latin typeface="Cambria"/>
                <a:cs typeface="Cambria"/>
              </a:rPr>
              <a:t> .</a:t>
            </a:r>
            <a:r>
              <a:rPr sz="1000" spc="-10" dirty="0">
                <a:solidFill>
                  <a:srgbClr val="001F60"/>
                </a:solidFill>
                <a:latin typeface="Cambria"/>
                <a:cs typeface="Cambria"/>
              </a:rPr>
              <a:t>Accredited</a:t>
            </a:r>
            <a:r>
              <a:rPr sz="1000" spc="-50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001F60"/>
                </a:solidFill>
                <a:latin typeface="Cambria"/>
                <a:cs typeface="Cambria"/>
              </a:rPr>
              <a:t>‘B++’</a:t>
            </a:r>
            <a:r>
              <a:rPr sz="1000" spc="-40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spc="-10" dirty="0">
                <a:solidFill>
                  <a:srgbClr val="001F60"/>
                </a:solidFill>
                <a:latin typeface="Cambria"/>
                <a:cs typeface="Cambria"/>
              </a:rPr>
              <a:t>level</a:t>
            </a:r>
            <a:r>
              <a:rPr sz="1000" spc="-20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001F60"/>
                </a:solidFill>
                <a:latin typeface="Cambria"/>
                <a:cs typeface="Cambria"/>
              </a:rPr>
              <a:t>by</a:t>
            </a:r>
            <a:r>
              <a:rPr sz="1000" spc="-30" dirty="0">
                <a:solidFill>
                  <a:srgbClr val="001F60"/>
                </a:solidFill>
                <a:latin typeface="Cambria"/>
                <a:cs typeface="Cambria"/>
              </a:rPr>
              <a:t> </a:t>
            </a:r>
            <a:r>
              <a:rPr sz="1000" spc="-20" dirty="0">
                <a:solidFill>
                  <a:srgbClr val="001F60"/>
                </a:solidFill>
                <a:latin typeface="Cambria"/>
                <a:cs typeface="Cambria"/>
              </a:rPr>
              <a:t>NAAC</a:t>
            </a:r>
            <a:endParaRPr sz="10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1608" y="4646195"/>
            <a:ext cx="1089025" cy="4794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dirty="0">
                <a:latin typeface="Times New Roman"/>
                <a:cs typeface="Times New Roman"/>
              </a:rPr>
              <a:t>Presented</a:t>
            </a:r>
            <a:r>
              <a:rPr sz="1450" b="1" spc="65" dirty="0">
                <a:latin typeface="Times New Roman"/>
                <a:cs typeface="Times New Roman"/>
              </a:rPr>
              <a:t> </a:t>
            </a:r>
            <a:r>
              <a:rPr sz="1450" b="1" spc="-25" dirty="0">
                <a:latin typeface="Times New Roman"/>
                <a:cs typeface="Times New Roman"/>
              </a:rPr>
              <a:t>by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50" dirty="0">
                <a:latin typeface="Times New Roman"/>
                <a:cs typeface="Times New Roman"/>
              </a:rPr>
              <a:t>SHANKAR</a:t>
            </a:r>
            <a:r>
              <a:rPr sz="1450" spc="114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Times New Roman"/>
                <a:cs typeface="Times New Roman"/>
              </a:rPr>
              <a:t>S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1608" y="5098797"/>
            <a:ext cx="1652905" cy="704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sz="1450" dirty="0">
                <a:latin typeface="Times New Roman"/>
                <a:cs typeface="Times New Roman"/>
              </a:rPr>
              <a:t>SHASHANK</a:t>
            </a:r>
            <a:r>
              <a:rPr sz="1450" spc="130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SP </a:t>
            </a:r>
            <a:r>
              <a:rPr sz="1450" spc="-45" dirty="0">
                <a:latin typeface="Times New Roman"/>
                <a:cs typeface="Times New Roman"/>
              </a:rPr>
              <a:t>UDHAYAVANAN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Times New Roman"/>
                <a:cs typeface="Times New Roman"/>
              </a:rPr>
              <a:t>M </a:t>
            </a:r>
            <a:r>
              <a:rPr sz="1450" dirty="0">
                <a:latin typeface="Times New Roman"/>
                <a:cs typeface="Times New Roman"/>
              </a:rPr>
              <a:t>YASHAS</a:t>
            </a:r>
            <a:r>
              <a:rPr sz="1450" spc="-80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MR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8000" y="4876800"/>
            <a:ext cx="1291566" cy="9094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2225" algn="just">
              <a:lnSpc>
                <a:spcPct val="102299"/>
              </a:lnSpc>
              <a:spcBef>
                <a:spcPts val="95"/>
              </a:spcBef>
            </a:pPr>
            <a:r>
              <a:rPr sz="1450" spc="-10" dirty="0">
                <a:latin typeface="Times New Roman"/>
                <a:cs typeface="Times New Roman"/>
              </a:rPr>
              <a:t>[1BO23EC080] </a:t>
            </a:r>
            <a:r>
              <a:rPr lang="en-IN" sz="1450" spc="-10" dirty="0">
                <a:latin typeface="Times New Roman"/>
                <a:cs typeface="Times New Roman"/>
              </a:rPr>
              <a:t>      </a:t>
            </a:r>
            <a:r>
              <a:rPr sz="1450" spc="-10" dirty="0">
                <a:latin typeface="Times New Roman"/>
                <a:cs typeface="Times New Roman"/>
              </a:rPr>
              <a:t>[1B</a:t>
            </a:r>
            <a:r>
              <a:rPr lang="en-IN" sz="1450" spc="-10" dirty="0">
                <a:latin typeface="Times New Roman"/>
                <a:cs typeface="Times New Roman"/>
              </a:rPr>
              <a:t>O2</a:t>
            </a:r>
            <a:r>
              <a:rPr sz="1450" spc="-10" dirty="0">
                <a:latin typeface="Times New Roman"/>
                <a:cs typeface="Times New Roman"/>
              </a:rPr>
              <a:t>3EC083] </a:t>
            </a:r>
            <a:r>
              <a:rPr lang="en-IN" sz="1450" spc="-10" dirty="0">
                <a:latin typeface="Times New Roman"/>
                <a:cs typeface="Times New Roman"/>
              </a:rPr>
              <a:t>   </a:t>
            </a:r>
            <a:r>
              <a:rPr sz="1450" spc="-10" dirty="0">
                <a:latin typeface="Times New Roman"/>
                <a:cs typeface="Times New Roman"/>
              </a:rPr>
              <a:t>[1BO23EC098] [1BO23EC112]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08337" y="2553012"/>
            <a:ext cx="6168390" cy="2258822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650" b="1" dirty="0">
                <a:latin typeface="Times New Roman"/>
                <a:cs typeface="Times New Roman"/>
              </a:rPr>
              <a:t>Department</a:t>
            </a:r>
            <a:r>
              <a:rPr sz="1650" b="1" spc="-30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of</a:t>
            </a:r>
            <a:r>
              <a:rPr sz="1650" b="1" spc="5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Electronics</a:t>
            </a:r>
            <a:r>
              <a:rPr sz="1650" b="1" spc="-2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and </a:t>
            </a:r>
            <a:r>
              <a:rPr sz="1650" b="1" spc="-10" dirty="0">
                <a:latin typeface="Times New Roman"/>
                <a:cs typeface="Times New Roman"/>
              </a:rPr>
              <a:t>Communication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spc="-10" dirty="0">
                <a:latin typeface="Times New Roman"/>
                <a:cs typeface="Times New Roman"/>
              </a:rPr>
              <a:t>Engineering</a:t>
            </a:r>
            <a:endParaRPr sz="1650" dirty="0">
              <a:latin typeface="Times New Roman"/>
              <a:cs typeface="Times New Roman"/>
            </a:endParaRPr>
          </a:p>
          <a:p>
            <a:pPr marL="939165" marR="1779270" algn="ctr">
              <a:lnSpc>
                <a:spcPct val="101600"/>
              </a:lnSpc>
              <a:spcBef>
                <a:spcPts val="1090"/>
              </a:spcBef>
            </a:pPr>
            <a:r>
              <a:rPr lang="en-IN" sz="1950" b="1" spc="-15" dirty="0">
                <a:latin typeface="Times New Roman"/>
                <a:cs typeface="Times New Roman"/>
              </a:rPr>
              <a:t>Major</a:t>
            </a:r>
            <a:r>
              <a:rPr sz="1950" b="1" spc="-15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Project</a:t>
            </a:r>
            <a:r>
              <a:rPr sz="1950" b="1" spc="-4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Work</a:t>
            </a:r>
            <a:r>
              <a:rPr sz="1950" b="1" spc="15" dirty="0">
                <a:latin typeface="Times New Roman"/>
                <a:cs typeface="Times New Roman"/>
              </a:rPr>
              <a:t> </a:t>
            </a:r>
            <a:r>
              <a:rPr sz="1950" b="1" spc="-10" dirty="0">
                <a:latin typeface="Times New Roman"/>
                <a:cs typeface="Times New Roman"/>
              </a:rPr>
              <a:t>Presentation </a:t>
            </a:r>
            <a:r>
              <a:rPr sz="1950" b="1" spc="-25" dirty="0">
                <a:latin typeface="Times New Roman"/>
                <a:cs typeface="Times New Roman"/>
              </a:rPr>
              <a:t>On</a:t>
            </a:r>
            <a:endParaRPr sz="1950" dirty="0">
              <a:latin typeface="Times New Roman"/>
              <a:cs typeface="Times New Roman"/>
            </a:endParaRPr>
          </a:p>
          <a:p>
            <a:pPr marL="300355" marR="1137920" algn="ctr">
              <a:lnSpc>
                <a:spcPts val="3180"/>
              </a:lnSpc>
              <a:spcBef>
                <a:spcPts val="80"/>
              </a:spcBef>
            </a:pPr>
            <a:r>
              <a:rPr sz="2650" b="1" spc="-55" dirty="0">
                <a:latin typeface="Times New Roman"/>
                <a:cs typeface="Times New Roman"/>
              </a:rPr>
              <a:t>“</a:t>
            </a:r>
            <a:r>
              <a:rPr lang="en-US" sz="2650" b="1" spc="-55" dirty="0" err="1">
                <a:latin typeface="Times New Roman"/>
                <a:cs typeface="Times New Roman"/>
              </a:rPr>
              <a:t>RoboPet</a:t>
            </a:r>
            <a:r>
              <a:rPr lang="en-US" sz="2650" b="1" spc="-55" dirty="0">
                <a:latin typeface="Times New Roman"/>
                <a:cs typeface="Times New Roman"/>
              </a:rPr>
              <a:t>: AI-Based Smart Robotic Companion (Sentinel-X)</a:t>
            </a:r>
            <a:r>
              <a:rPr sz="2650" b="1" spc="-10" dirty="0">
                <a:latin typeface="Arial"/>
                <a:cs typeface="Arial"/>
              </a:rPr>
              <a:t>”</a:t>
            </a:r>
            <a:endParaRPr sz="2650" dirty="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530"/>
              </a:spcBef>
            </a:pPr>
            <a:r>
              <a:rPr sz="1450" b="1" dirty="0">
                <a:latin typeface="Times New Roman"/>
                <a:cs typeface="Times New Roman"/>
              </a:rPr>
              <a:t>Under</a:t>
            </a:r>
            <a:r>
              <a:rPr sz="1450" b="1" spc="3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the</a:t>
            </a:r>
            <a:r>
              <a:rPr sz="1450" b="1" spc="7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guidance</a:t>
            </a:r>
            <a:r>
              <a:rPr sz="1450" b="1" spc="50" dirty="0">
                <a:latin typeface="Times New Roman"/>
                <a:cs typeface="Times New Roman"/>
              </a:rPr>
              <a:t> </a:t>
            </a:r>
            <a:r>
              <a:rPr sz="1450" b="1" spc="-25" dirty="0">
                <a:latin typeface="Times New Roman"/>
                <a:cs typeface="Times New Roman"/>
              </a:rPr>
              <a:t>of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68544" y="4771133"/>
            <a:ext cx="207962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dirty="0">
                <a:latin typeface="Times New Roman"/>
                <a:cs typeface="Times New Roman"/>
              </a:rPr>
              <a:t>Prof.</a:t>
            </a:r>
            <a:r>
              <a:rPr sz="1450" b="1" spc="6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BOBAN</a:t>
            </a:r>
            <a:r>
              <a:rPr sz="1450" b="1" spc="65" dirty="0">
                <a:latin typeface="Times New Roman"/>
                <a:cs typeface="Times New Roman"/>
              </a:rPr>
              <a:t> </a:t>
            </a:r>
            <a:r>
              <a:rPr sz="1450" b="1" spc="-10" dirty="0">
                <a:latin typeface="Times New Roman"/>
                <a:cs typeface="Times New Roman"/>
              </a:rPr>
              <a:t>MATHEW</a:t>
            </a:r>
            <a:endParaRPr sz="1450" dirty="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1056133"/>
            <a:ext cx="10058401" cy="5660135"/>
            <a:chOff x="86868" y="1161288"/>
            <a:chExt cx="9886315" cy="545147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628" y="1362214"/>
              <a:ext cx="1163894" cy="93054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4488" y="1168908"/>
              <a:ext cx="9871075" cy="5436235"/>
            </a:xfrm>
            <a:custGeom>
              <a:avLst/>
              <a:gdLst/>
              <a:ahLst/>
              <a:cxnLst/>
              <a:rect l="l" t="t" r="r" b="b"/>
              <a:pathLst>
                <a:path w="9871075" h="5436234">
                  <a:moveTo>
                    <a:pt x="0" y="0"/>
                  </a:moveTo>
                  <a:lnTo>
                    <a:pt x="9870947" y="0"/>
                  </a:lnTo>
                  <a:lnTo>
                    <a:pt x="9870947" y="5436108"/>
                  </a:lnTo>
                  <a:lnTo>
                    <a:pt x="0" y="5436108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6218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1" y="1828800"/>
            <a:ext cx="8000999" cy="37751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4640" marR="20955" indent="-282575" algn="just">
              <a:lnSpc>
                <a:spcPct val="101000"/>
              </a:lnSpc>
              <a:spcBef>
                <a:spcPts val="90"/>
              </a:spcBef>
              <a:buChar char="•"/>
              <a:tabLst>
                <a:tab pos="295910" algn="l"/>
              </a:tabLst>
            </a:pPr>
            <a:r>
              <a:rPr lang="en-US" sz="2000" dirty="0"/>
              <a:t>Sentinel-X is an advanced intelligent robotic system designed to function as both a companion and a smart monitoring device. </a:t>
            </a:r>
          </a:p>
          <a:p>
            <a:pPr marL="294640" marR="20955" indent="-282575" algn="just">
              <a:lnSpc>
                <a:spcPct val="101000"/>
              </a:lnSpc>
              <a:spcBef>
                <a:spcPts val="90"/>
              </a:spcBef>
              <a:buChar char="•"/>
              <a:tabLst>
                <a:tab pos="295910" algn="l"/>
              </a:tabLst>
            </a:pPr>
            <a:r>
              <a:rPr lang="en-US" sz="2000" dirty="0"/>
              <a:t>It integrates modern technologies such as artificial intelligence, sensors, and communication modules to perform multiple tasks efficiently.</a:t>
            </a:r>
          </a:p>
          <a:p>
            <a:pPr marL="294640" marR="20955" indent="-282575" algn="just">
              <a:lnSpc>
                <a:spcPct val="101000"/>
              </a:lnSpc>
              <a:spcBef>
                <a:spcPts val="90"/>
              </a:spcBef>
              <a:buChar char="•"/>
              <a:tabLst>
                <a:tab pos="295910" algn="l"/>
              </a:tabLst>
            </a:pPr>
            <a:r>
              <a:rPr lang="en-US" sz="2000" dirty="0"/>
              <a:t>One of its primary features is home surveillance, where it continuously monitors the surroundings using cameras and sensors to enhance security.</a:t>
            </a:r>
          </a:p>
          <a:p>
            <a:pPr marL="294640" marR="20955" indent="-282575" algn="just">
              <a:lnSpc>
                <a:spcPct val="101000"/>
              </a:lnSpc>
              <a:spcBef>
                <a:spcPts val="90"/>
              </a:spcBef>
              <a:buChar char="•"/>
              <a:tabLst>
                <a:tab pos="295910" algn="l"/>
              </a:tabLst>
            </a:pPr>
            <a:r>
              <a:rPr lang="en-US" sz="2000" dirty="0"/>
              <a:t> The system also includes user recognition, enabling it to identify authorized individuals through facial recognition techniques.</a:t>
            </a:r>
          </a:p>
          <a:p>
            <a:pPr marL="294640" marR="20955" indent="-282575" algn="just">
              <a:lnSpc>
                <a:spcPct val="101000"/>
              </a:lnSpc>
              <a:spcBef>
                <a:spcPts val="90"/>
              </a:spcBef>
              <a:buChar char="•"/>
              <a:tabLst>
                <a:tab pos="295910" algn="l"/>
              </a:tabLst>
            </a:pPr>
            <a:r>
              <a:rPr lang="en-US" sz="2000" dirty="0"/>
              <a:t>The robot understands voice commands, responds intelligently, and learns user behavior over time.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33070">
              <a:lnSpc>
                <a:spcPct val="100000"/>
              </a:lnSpc>
              <a:spcBef>
                <a:spcPts val="125"/>
              </a:spcBef>
            </a:pPr>
            <a:r>
              <a:rPr spc="-10" dirty="0">
                <a:solidFill>
                  <a:srgbClr val="C00000"/>
                </a:solidFill>
              </a:rPr>
              <a:t>OBJECTIVE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A5DC0BD-941E-1B2E-8ACF-A73C3056E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59080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8A67E8A-56CA-B0A3-81BC-649F3398D0D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5800" y="1641903"/>
            <a:ext cx="92202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b="1" dirty="0"/>
              <a:t>Develop a multi-functional robotic companion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 robot that can act as both a personal assistant and a monitoring system.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advanced technologies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Artificial Intelligence (AI), Internet of Things (IoT), and sensors for efficient and intelligent operation.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smart living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safety, efficiency, and user comfort while enabling complete smart home automation in a single system.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53323C-F2AF-567D-CE25-AC233A8C559A}"/>
              </a:ext>
            </a:extLst>
          </p:cNvPr>
          <p:cNvSpPr txBox="1"/>
          <p:nvPr/>
        </p:nvSpPr>
        <p:spPr>
          <a:xfrm>
            <a:off x="1811903" y="241728"/>
            <a:ext cx="6434593" cy="546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5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81380C-7F99-F983-702A-772C95463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537" y="685800"/>
            <a:ext cx="6431326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74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FE6245-4C45-4102-215A-8C65D08094F6}"/>
              </a:ext>
            </a:extLst>
          </p:cNvPr>
          <p:cNvSpPr txBox="1"/>
          <p:nvPr/>
        </p:nvSpPr>
        <p:spPr>
          <a:xfrm>
            <a:off x="3048000" y="0"/>
            <a:ext cx="4191000" cy="546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E4A98-8ABF-DFDF-7BF5-B98B64B3C05D}"/>
              </a:ext>
            </a:extLst>
          </p:cNvPr>
          <p:cNvSpPr txBox="1"/>
          <p:nvPr/>
        </p:nvSpPr>
        <p:spPr>
          <a:xfrm>
            <a:off x="599954" y="749887"/>
            <a:ext cx="846784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Valls Mascaro E, Yan Y, Lee D (2024) Robot interaction behavior generation based on social motion forecasting for human-robot interaction. In 2024 IEEE International Conference on Robotics and Automation (ICRA</a:t>
            </a:r>
            <a:r>
              <a:rPr lang="en-US" sz="1800" dirty="0"/>
              <a:t>)</a:t>
            </a:r>
            <a:endParaRPr lang="en-IN" sz="1800" dirty="0"/>
          </a:p>
          <a:p>
            <a:r>
              <a:rPr lang="en-US" sz="1800" dirty="0"/>
              <a:t> </a:t>
            </a:r>
            <a:endParaRPr lang="en-IN" sz="1800" dirty="0"/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773B3C-534F-4D58-B0EA-8D34E63DF71A}"/>
              </a:ext>
            </a:extLst>
          </p:cNvPr>
          <p:cNvSpPr txBox="1"/>
          <p:nvPr/>
        </p:nvSpPr>
        <p:spPr>
          <a:xfrm>
            <a:off x="599954" y="1765550"/>
            <a:ext cx="84678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AhmedA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A.AbualiT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M.BelkherA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A. A. (2025). The role of advanced robotics in enhancing human-machine collaboration. 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Open Eur. J. Eng. Sci. Res. (OEJESR)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 32–43.</a:t>
            </a:r>
            <a:endParaRPr lang="en-IN" sz="1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F464A2-2B4F-3CFC-04F6-C617F8D0FF34}"/>
              </a:ext>
            </a:extLst>
          </p:cNvPr>
          <p:cNvSpPr txBox="1"/>
          <p:nvPr/>
        </p:nvSpPr>
        <p:spPr>
          <a:xfrm>
            <a:off x="599954" y="2514600"/>
            <a:ext cx="854404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Bogdan Gabriel Draghici, Alexandra Elena Dobre, Marius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Misaros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and Ovidiu Petru Stan. Development of a human service robot application using pepper robot as a museum guide. In 2022 IEEE International Conference on Automation, Quality and Testing, Robotics (AQTR), pages 1–5. IEEE, 2022.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Kumar, K., &amp; Dhanalakshmi, K. (2020). A Smart Surveillance System for Real-Time Monitoring and Alerts. In 2020 11th International Conference on Computing, Communication and Networking Technologies (ICCCNT) (pp. 1-5). IEEE.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Nguyen PD,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Bottarel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Pattacini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U, et al. Merging physical and social interaction for effective human-robot collaboration. 2018 IEEE-RAS 18th International Conference on Humanoid Robots (Humanoids); 2018 Nov 6-9; Beijing, China. IEEE; 2018. pp. 1–9.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34093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99415">
              <a:lnSpc>
                <a:spcPct val="100000"/>
              </a:lnSpc>
              <a:spcBef>
                <a:spcPts val="125"/>
              </a:spcBef>
            </a:pPr>
            <a:r>
              <a:rPr spc="-10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38200" y="2057400"/>
            <a:ext cx="8311515" cy="3442353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4965" marR="71755" indent="-342900" algn="just">
              <a:lnSpc>
                <a:spcPct val="101200"/>
              </a:lnSpc>
              <a:spcBef>
                <a:spcPts val="85"/>
              </a:spcBef>
              <a:buFont typeface="Arial" panose="020B0604020202020204" pitchFamily="34" charset="0"/>
              <a:buChar char="•"/>
              <a:tabLst>
                <a:tab pos="295910" algn="l"/>
              </a:tabLst>
            </a:pPr>
            <a:r>
              <a:rPr lang="en-US" spc="-10" dirty="0"/>
              <a:t>Current systems are fragmented and inefficient Sentinel-X aims to solve this by providing a smart, integrated, and intelligent solution.</a:t>
            </a:r>
          </a:p>
          <a:p>
            <a:pPr marL="354965" marR="71755" indent="-342900" algn="just">
              <a:lnSpc>
                <a:spcPct val="101200"/>
              </a:lnSpc>
              <a:spcBef>
                <a:spcPts val="85"/>
              </a:spcBef>
              <a:buFont typeface="Arial" panose="020B0604020202020204" pitchFamily="34" charset="0"/>
              <a:buChar char="•"/>
              <a:tabLst>
                <a:tab pos="295910" algn="l"/>
              </a:tabLst>
            </a:pPr>
            <a:r>
              <a:rPr lang="en-IN" dirty="0"/>
              <a:t>The system leverages real-time data from sensors and cameras to monitor the environment and user health, providing alerts in case of anomalies.</a:t>
            </a:r>
          </a:p>
          <a:p>
            <a:pPr marL="354965" marR="71755" indent="-342900" algn="just">
              <a:lnSpc>
                <a:spcPct val="101200"/>
              </a:lnSpc>
              <a:spcBef>
                <a:spcPts val="85"/>
              </a:spcBef>
              <a:buFont typeface="Arial" panose="020B0604020202020204" pitchFamily="34" charset="0"/>
              <a:buChar char="•"/>
              <a:tabLst>
                <a:tab pos="295910" algn="l"/>
              </a:tabLst>
            </a:pPr>
            <a:r>
              <a:rPr lang="en-IN" dirty="0"/>
              <a:t> AI-driven interaction and predictive </a:t>
            </a:r>
            <a:r>
              <a:rPr lang="en-IN" dirty="0" err="1"/>
              <a:t>behavior</a:t>
            </a:r>
            <a:r>
              <a:rPr lang="en-IN" dirty="0"/>
              <a:t> enable the Sentinel-X to respond intelligently to user commands and social cues, enhancing usability and trust.</a:t>
            </a:r>
            <a:endParaRPr spc="-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54B3C96-C145-932D-8216-9D587B317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066800"/>
            <a:ext cx="7010400" cy="467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565</Words>
  <Application>Microsoft Office PowerPoint</Application>
  <PresentationFormat>Custom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American Text</vt:lpstr>
      <vt:lpstr>Arial</vt:lpstr>
      <vt:lpstr>Cambria</vt:lpstr>
      <vt:lpstr>Times New Roman</vt:lpstr>
      <vt:lpstr>Office Theme</vt:lpstr>
      <vt:lpstr>BRINDAVAN COLLEGE OF ENGINEERING</vt:lpstr>
      <vt:lpstr>INTRODUCTION</vt:lpstr>
      <vt:lpstr>OBJECTIVE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VOICE_ATTENDENCE[1]</dc:title>
  <dc:creator>rajat talawar</dc:creator>
  <cp:lastModifiedBy>Udhay Vanan</cp:lastModifiedBy>
  <cp:revision>3</cp:revision>
  <dcterms:created xsi:type="dcterms:W3CDTF">2025-10-12T15:14:13Z</dcterms:created>
  <dcterms:modified xsi:type="dcterms:W3CDTF">2026-04-10T08:04:22Z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2025-09-04T00:00:00Z</vt:filetime>
  </property>
  <property fmtid="{D5CDD505-2E9C-101B-9397-08002B2CF9AE}" pid="3" name="LastSaved">
    <vt:filetime>2025-10-12T00:00:00Z</vt:filetime>
  </property>
  <property fmtid="{D5CDD505-2E9C-101B-9397-08002B2CF9AE}" pid="4" name="Producer">
    <vt:lpwstr>Microsoft: Print To PDF</vt:lpwstr>
  </property>
</Properties>
</file>